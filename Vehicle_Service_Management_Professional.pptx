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3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media/image3.png" ContentType="image/png"/>
  <Override PartName="/ppt/media/image8.png" ContentType="image/png"/>
  <Override PartName="/ppt/media/image1.jpeg" ContentType="image/jpeg"/>
  <Override PartName="/ppt/media/image2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9.png" ContentType="image/png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_rels/slide18.xml.rels" ContentType="application/vnd.openxmlformats-package.relationships+xml"/>
  <Override PartName="/ppt/slides/_rels/slide1.xml.rels" ContentType="application/vnd.openxmlformats-package.relationships+xml"/>
  <Override PartName="/ppt/slides/_rels/slide20.xml.rels" ContentType="application/vnd.openxmlformats-package.relationships+xml"/>
  <Override PartName="/ppt/slides/_rels/slide2.xml.rels" ContentType="application/vnd.openxmlformats-package.relationships+xml"/>
  <Override PartName="/ppt/slides/_rels/slide21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9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9.xml.rels" ContentType="application/vnd.openxmlformats-package.relationships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6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2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presProps.xml" ContentType="application/vnd.openxmlformats-officedocument.presentationml.presPro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IN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dt" idx="2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ftr" idx="3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6"/>
          <p:cNvSpPr>
            <a:spLocks noGrp="1"/>
          </p:cNvSpPr>
          <p:nvPr>
            <p:ph type="sldNum" idx="4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D89E9E3B-A7D6-4FEE-B7F1-826F41F6EA4E}" type="slidenum"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06EA5E1-9314-468A-BBB3-DBF64F737463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668A4B3-4007-49A4-B665-A0022BE06DFE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68A90AC-74DC-4AB9-9C0C-3C57A75C311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56D5CF1-0202-4192-B23C-DB194232A82D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AE6002D-88E7-428E-A2BE-38D59A6E572E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18628FB-D5F3-4721-AEDA-3F0EE3A3F110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E3C21B8-CA97-43F5-8CB9-F35C9401BBBE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7182EB1-8CCB-44C9-BF27-682DAAEFC0A9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1F31AB9-6EFE-4D4A-BB95-F95EBF5480CE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B0535BC-5CAF-4BC5-83EE-4F7C7827EF66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A1EB13D-4E90-4D72-9AB3-0BDC51C81E97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A4B5AC0-917A-47D4-AC59-3AD066D8136B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160" cy="85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160" cy="298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MIUM_MASTER">
    <p:bg>
      <p:bgPr>
        <a:solidFill>
          <a:srgbClr val="f4f4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/>
          <p:cNvSpPr/>
          <p:nvPr/>
        </p:nvSpPr>
        <p:spPr>
          <a:xfrm>
            <a:off x="0" y="0"/>
            <a:ext cx="730080" cy="5142240"/>
          </a:xfrm>
          <a:prstGeom prst="rect">
            <a:avLst/>
          </a:prstGeom>
          <a:solidFill>
            <a:srgbClr val="2c3e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" name="Shape 1"/>
          <p:cNvSpPr/>
          <p:nvPr/>
        </p:nvSpPr>
        <p:spPr>
          <a:xfrm>
            <a:off x="731520" y="0"/>
            <a:ext cx="8411040" cy="1095840"/>
          </a:xfrm>
          <a:prstGeom prst="rect">
            <a:avLst/>
          </a:prstGeom>
          <a:solidFill>
            <a:srgbClr val="ffffff">
              <a:alpha val="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Shape 2"/>
          <p:cNvSpPr/>
          <p:nvPr/>
        </p:nvSpPr>
        <p:spPr>
          <a:xfrm>
            <a:off x="731520" y="6583680"/>
            <a:ext cx="8228160" cy="4428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" name="Shape 3"/>
          <p:cNvSpPr/>
          <p:nvPr/>
        </p:nvSpPr>
        <p:spPr>
          <a:xfrm>
            <a:off x="182880" y="457200"/>
            <a:ext cx="364320" cy="36432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" name="Shape 4"/>
          <p:cNvSpPr/>
          <p:nvPr/>
        </p:nvSpPr>
        <p:spPr>
          <a:xfrm>
            <a:off x="182880" y="1097280"/>
            <a:ext cx="364320" cy="364320"/>
          </a:xfrm>
          <a:prstGeom prst="rect">
            <a:avLst/>
          </a:prstGeom>
          <a:solidFill>
            <a:srgbClr val="3498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1"/>
          <p:cNvSpPr>
            <a:spLocks noGrp="1"/>
          </p:cNvSpPr>
          <p:nvPr>
            <p:ph type="sldNum" idx="1"/>
          </p:nvPr>
        </p:nvSpPr>
        <p:spPr>
          <a:xfrm>
            <a:off x="8229600" y="6675120"/>
            <a:ext cx="798480" cy="29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trike="noStrike" u="none">
                <a:solidFill>
                  <a:srgbClr val="2c3e5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3BC02CDE-D4B7-4A51-8B1E-61C4DF638511}" type="slidenum">
              <a:rPr b="0" lang="en-US" sz="1000" strike="noStrike" u="none">
                <a:solidFill>
                  <a:srgbClr val="2c3e5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160" cy="85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160" cy="298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2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2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"/>
          <p:cNvSpPr/>
          <p:nvPr/>
        </p:nvSpPr>
        <p:spPr>
          <a:xfrm>
            <a:off x="2926800" y="205200"/>
            <a:ext cx="360" cy="4114800"/>
          </a:xfrm>
          <a:prstGeom prst="line">
            <a:avLst/>
          </a:prstGeom>
          <a:ln w="38100">
            <a:solidFill>
              <a:srgbClr val="e74c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2"/>
          <p:cNvSpPr/>
          <p:nvPr/>
        </p:nvSpPr>
        <p:spPr>
          <a:xfrm>
            <a:off x="3154320" y="900000"/>
            <a:ext cx="54849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800" strike="noStrike" u="none">
                <a:solidFill>
                  <a:srgbClr val="ecf0f1"/>
                </a:solidFill>
                <a:effectLst/>
                <a:uFillTx/>
                <a:latin typeface="Helvetica Neue"/>
                <a:ea typeface="Helvetica Neue"/>
              </a:rPr>
              <a:t>VEHICLE SERVICE</a:t>
            </a:r>
            <a:endParaRPr b="0" lang="en-IN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3"/>
          <p:cNvSpPr/>
          <p:nvPr/>
        </p:nvSpPr>
        <p:spPr>
          <a:xfrm>
            <a:off x="3154320" y="2160000"/>
            <a:ext cx="54849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e74c3c"/>
                </a:solidFill>
                <a:effectLst/>
                <a:uFillTx/>
                <a:latin typeface="Helvetica Neue"/>
                <a:ea typeface="Helvetica Neue"/>
              </a:rPr>
              <a:t>MANAGEMENT SYSTEM</a:t>
            </a:r>
            <a:endParaRPr b="0" lang="en-IN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4"/>
          <p:cNvSpPr/>
          <p:nvPr/>
        </p:nvSpPr>
        <p:spPr>
          <a:xfrm>
            <a:off x="3154320" y="2880000"/>
            <a:ext cx="54849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2000" strike="noStrike" u="none">
                <a:solidFill>
                  <a:srgbClr val="ecf0f1"/>
                </a:solidFill>
                <a:effectLst/>
                <a:uFillTx/>
                <a:latin typeface="Calibri"/>
              </a:rPr>
              <a:t>A Modern Solution for Service Centers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5"/>
          <p:cNvSpPr/>
          <p:nvPr/>
        </p:nvSpPr>
        <p:spPr>
          <a:xfrm>
            <a:off x="3060000" y="4500720"/>
            <a:ext cx="5040000" cy="53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ecf0f1"/>
                </a:solidFill>
                <a:effectLst/>
                <a:uFillTx/>
                <a:latin typeface="Calibri"/>
              </a:rPr>
              <a:t>Under The Guidance of : Asst. Professor Bikram Saha</a:t>
            </a:r>
            <a:endParaRPr b="0" lang="en-IN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ecf0f1"/>
                </a:solidFill>
                <a:effectLst/>
                <a:uFillTx/>
                <a:latin typeface="Calibri"/>
              </a:rPr>
              <a:t>Institute Name : Asansol Engineering College </a:t>
            </a:r>
            <a:endParaRPr b="0" lang="en-IN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IN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"/>
          <p:cNvSpPr/>
          <p:nvPr/>
        </p:nvSpPr>
        <p:spPr>
          <a:xfrm>
            <a:off x="3247560" y="3215880"/>
            <a:ext cx="3997800" cy="92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15000"/>
              </a:lnSpc>
            </a:pPr>
            <a:r>
              <a:rPr b="0" lang="en-IN" sz="13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1. Souvik Ghosh                          Roll No: 108250600263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</a:pPr>
            <a:r>
              <a:rPr b="0" lang="en-IN" sz="13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2. Snehasish Kundu                     Roll No:  108250600245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</a:pPr>
            <a:r>
              <a:rPr b="0" lang="en-IN" sz="13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3. Sansuddhi Mukhopadhyay      Roll No: 108250600210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</a:pPr>
            <a:r>
              <a:rPr b="0" lang="en-IN" sz="13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4. Sneha Tiwari                            Roll No: 108250600244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"/>
          <p:cNvSpPr/>
          <p:nvPr/>
        </p:nvSpPr>
        <p:spPr>
          <a:xfrm>
            <a:off x="3240000" y="3084120"/>
            <a:ext cx="3959280" cy="1235160"/>
          </a:xfrm>
          <a:prstGeom prst="rect">
            <a:avLst/>
          </a:prstGeom>
          <a:noFill/>
          <a:ln w="3816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720" rIns="108720" tIns="63720" bIns="63720" anchor="ctr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"/>
          <p:cNvSpPr/>
          <p:nvPr/>
        </p:nvSpPr>
        <p:spPr>
          <a:xfrm>
            <a:off x="7604280" y="127800"/>
            <a:ext cx="1395000" cy="41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IN" sz="1800" strike="noStrike" u="none">
                <a:solidFill>
                  <a:srgbClr val="ffffff"/>
                </a:solidFill>
                <a:effectLst/>
                <a:uFillTx/>
                <a:latin typeface="Helvetica Neue"/>
              </a:rPr>
              <a:t>GROUP- 7</a:t>
            </a: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" name="" descr=""/>
          <p:cNvPicPr/>
          <p:nvPr/>
        </p:nvPicPr>
        <p:blipFill>
          <a:blip r:embed="rId1"/>
          <a:stretch/>
        </p:blipFill>
        <p:spPr>
          <a:xfrm>
            <a:off x="0" y="0"/>
            <a:ext cx="2741760" cy="5142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0"/>
          <p:cNvSpPr/>
          <p:nvPr/>
        </p:nvSpPr>
        <p:spPr>
          <a:xfrm>
            <a:off x="914400" y="365760"/>
            <a:ext cx="777096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🚀  </a:t>
            </a:r>
            <a:r>
              <a:rPr b="1" lang="en-US" sz="2800" strike="noStrike" u="none">
                <a:solidFill>
                  <a:srgbClr val="2c3e50"/>
                </a:solidFill>
                <a:effectLst/>
                <a:uFillTx/>
                <a:latin typeface="Calibri"/>
              </a:rPr>
              <a:t>Introduction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"/>
          <p:cNvSpPr/>
          <p:nvPr/>
        </p:nvSpPr>
        <p:spPr>
          <a:xfrm>
            <a:off x="914400" y="1371600"/>
            <a:ext cx="7770960" cy="50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ts val="2801"/>
              </a:lnSpc>
              <a:spcBef>
                <a:spcPts val="1199"/>
              </a:spcBef>
              <a:buClr>
                <a:srgbClr val="2c3e50"/>
              </a:buClr>
              <a:buFont typeface="Wingdings" charset="2"/>
              <a:buChar char=""/>
            </a:pPr>
            <a:r>
              <a:rPr b="0" lang="en-US" sz="1600" strike="noStrike" u="none">
                <a:solidFill>
                  <a:srgbClr val="2c3e50"/>
                </a:solidFill>
                <a:effectLst/>
                <a:uFillTx/>
                <a:latin typeface="Helvetica Neue"/>
                <a:ea typeface="Helvetica Neue"/>
              </a:rPr>
              <a:t>A console-based application to streamline vehicle service operations.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2801"/>
              </a:lnSpc>
              <a:spcBef>
                <a:spcPts val="1199"/>
              </a:spcBef>
              <a:buClr>
                <a:srgbClr val="2c3e50"/>
              </a:buClr>
              <a:buFont typeface="Wingdings" charset="2"/>
              <a:buChar char=""/>
            </a:pPr>
            <a:r>
              <a:rPr b="0" lang="en-US" sz="1600" strike="noStrike" u="none">
                <a:solidFill>
                  <a:srgbClr val="2c3e50"/>
                </a:solidFill>
                <a:effectLst/>
                <a:uFillTx/>
                <a:latin typeface="Helvetica Neue"/>
                <a:ea typeface="Helvetica Neue"/>
              </a:rPr>
              <a:t>Replaces manual record-keeping with digital workflows.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2801"/>
              </a:lnSpc>
              <a:spcBef>
                <a:spcPts val="1199"/>
              </a:spcBef>
              <a:buClr>
                <a:srgbClr val="2c3e50"/>
              </a:buClr>
              <a:buFont typeface="Wingdings" charset="2"/>
              <a:buChar char=""/>
            </a:pPr>
            <a:r>
              <a:rPr b="0" lang="en-US" sz="1600" strike="noStrike" u="none">
                <a:solidFill>
                  <a:srgbClr val="2c3e50"/>
                </a:solidFill>
                <a:effectLst/>
                <a:uFillTx/>
                <a:latin typeface="Helvetica Neue"/>
                <a:ea typeface="Helvetica Neue"/>
              </a:rPr>
              <a:t>Core Features: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01"/>
              </a:lnSpc>
              <a:spcBef>
                <a:spcPts val="1199"/>
              </a:spcBef>
            </a:pPr>
            <a:r>
              <a:rPr b="0" lang="en-US" sz="1600" strike="noStrike" u="none">
                <a:solidFill>
                  <a:srgbClr val="2c3e50"/>
                </a:solidFill>
                <a:effectLst/>
                <a:uFillTx/>
                <a:latin typeface="Helvetica Neue"/>
                <a:ea typeface="Helvetica Neue"/>
              </a:rPr>
              <a:t>Vehicle Registration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01"/>
              </a:lnSpc>
              <a:spcBef>
                <a:spcPts val="1199"/>
              </a:spcBef>
            </a:pPr>
            <a:r>
              <a:rPr b="0" lang="en-US" sz="1600" strike="noStrike" u="none">
                <a:solidFill>
                  <a:srgbClr val="2c3e50"/>
                </a:solidFill>
                <a:effectLst/>
                <a:uFillTx/>
                <a:latin typeface="Helvetica Neue"/>
                <a:ea typeface="Helvetica Neue"/>
              </a:rPr>
              <a:t>Service History Tracking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01"/>
              </a:lnSpc>
              <a:spcBef>
                <a:spcPts val="1199"/>
              </a:spcBef>
            </a:pPr>
            <a:r>
              <a:rPr b="0" lang="en-US" sz="1600" strike="noStrike" u="none">
                <a:solidFill>
                  <a:srgbClr val="2c3e50"/>
                </a:solidFill>
                <a:effectLst/>
                <a:uFillTx/>
                <a:latin typeface="Helvetica Neue"/>
                <a:ea typeface="Helvetica Neue"/>
              </a:rPr>
              <a:t>Secure Authentication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2801"/>
              </a:lnSpc>
              <a:spcBef>
                <a:spcPts val="1199"/>
              </a:spcBef>
              <a:buClr>
                <a:srgbClr val="2c3e50"/>
              </a:buClr>
              <a:buFont typeface="Wingdings" charset="2"/>
              <a:buChar char=""/>
            </a:pPr>
            <a:r>
              <a:rPr b="0" lang="en-US" sz="1600" strike="noStrike" u="none">
                <a:solidFill>
                  <a:srgbClr val="2c3e50"/>
                </a:solidFill>
                <a:effectLst/>
                <a:uFillTx/>
                <a:latin typeface="Helvetica Neue"/>
                <a:ea typeface="Helvetica Neue"/>
              </a:rPr>
              <a:t>Built with C for high performance and reliability.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1"/>
          <p:cNvSpPr>
            <a:spLocks noGrp="1"/>
          </p:cNvSpPr>
          <p:nvPr>
            <p:ph type="sldNum" idx="5"/>
          </p:nvPr>
        </p:nvSpPr>
        <p:spPr>
          <a:xfrm>
            <a:off x="8229600" y="6675120"/>
            <a:ext cx="798480" cy="29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trike="noStrike" u="none">
                <a:solidFill>
                  <a:srgbClr val="2c3e5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BA5E9E00-FC4C-4C03-B2D0-263904B32F25}" type="slidenum">
              <a:rPr b="0" lang="en-US" sz="1000" strike="noStrike" u="none">
                <a:solidFill>
                  <a:srgbClr val="2c3e5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0"/>
          <p:cNvSpPr/>
          <p:nvPr/>
        </p:nvSpPr>
        <p:spPr>
          <a:xfrm>
            <a:off x="914400" y="365760"/>
            <a:ext cx="777096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🎯  </a:t>
            </a:r>
            <a:r>
              <a:rPr b="1" lang="en-US" sz="2800" strike="noStrike" u="none">
                <a:solidFill>
                  <a:srgbClr val="2c3e50"/>
                </a:solidFill>
                <a:effectLst/>
                <a:uFillTx/>
                <a:latin typeface="Calibri"/>
              </a:rPr>
              <a:t>Problem &amp; Objective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"/>
          <p:cNvSpPr/>
          <p:nvPr/>
        </p:nvSpPr>
        <p:spPr>
          <a:xfrm>
            <a:off x="867960" y="1080000"/>
            <a:ext cx="7770960" cy="50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ts val="2801"/>
              </a:lnSpc>
              <a:spcBef>
                <a:spcPts val="1199"/>
              </a:spcBef>
              <a:buClr>
                <a:srgbClr val="2c3e50"/>
              </a:buClr>
              <a:buFont typeface="Wingdings" charset="2"/>
              <a:buChar char=""/>
            </a:pPr>
            <a:r>
              <a:rPr b="0" lang="en-US" sz="1600" strike="noStrike" u="none">
                <a:solidFill>
                  <a:srgbClr val="2c3e50"/>
                </a:solidFill>
                <a:effectLst/>
                <a:uFillTx/>
                <a:latin typeface="Helvetica Neue"/>
                <a:ea typeface="Helvetica Neue"/>
              </a:rPr>
              <a:t>The Problem: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01"/>
              </a:lnSpc>
              <a:spcBef>
                <a:spcPts val="1199"/>
              </a:spcBef>
            </a:pPr>
            <a:r>
              <a:rPr b="0" lang="en-US" sz="1600" strike="noStrike" u="none">
                <a:solidFill>
                  <a:srgbClr val="2c3e50"/>
                </a:solidFill>
                <a:effectLst/>
                <a:uFillTx/>
                <a:latin typeface="Helvetica Neue"/>
                <a:ea typeface="Helvetica Neue"/>
              </a:rPr>
              <a:t>⚠️ Manual records are error-prone and easy to lose.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01"/>
              </a:lnSpc>
              <a:spcBef>
                <a:spcPts val="1199"/>
              </a:spcBef>
            </a:pPr>
            <a:r>
              <a:rPr b="0" lang="en-US" sz="1600" strike="noStrike" u="none">
                <a:solidFill>
                  <a:srgbClr val="2c3e50"/>
                </a:solidFill>
                <a:effectLst/>
                <a:uFillTx/>
                <a:latin typeface="Helvetica Neue"/>
                <a:ea typeface="Helvetica Neue"/>
              </a:rPr>
              <a:t>⚠️ Searching old history takes too much time.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01"/>
              </a:lnSpc>
              <a:spcBef>
                <a:spcPts val="1199"/>
              </a:spcBef>
            </a:pPr>
            <a:r>
              <a:rPr b="0" lang="en-US" sz="1600" strike="noStrike" u="none">
                <a:solidFill>
                  <a:srgbClr val="2c3e50"/>
                </a:solidFill>
                <a:effectLst/>
                <a:uFillTx/>
                <a:latin typeface="Helvetica Neue"/>
                <a:ea typeface="Helvetica Neue"/>
              </a:rPr>
              <a:t>⚠️ No security restricts access to sensitive data.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2801"/>
              </a:lnSpc>
              <a:spcBef>
                <a:spcPts val="1199"/>
              </a:spcBef>
              <a:buClr>
                <a:srgbClr val="2c3e50"/>
              </a:buClr>
              <a:buFont typeface="Wingdings" charset="2"/>
              <a:buChar char=""/>
            </a:pPr>
            <a:r>
              <a:rPr b="0" lang="en-US" sz="1600" strike="noStrike" u="none">
                <a:solidFill>
                  <a:srgbClr val="2c3e50"/>
                </a:solidFill>
                <a:effectLst/>
                <a:uFillTx/>
                <a:latin typeface="Helvetica Neue"/>
                <a:ea typeface="Helvetica Neue"/>
              </a:rPr>
              <a:t>The Objective: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01"/>
              </a:lnSpc>
              <a:spcBef>
                <a:spcPts val="1199"/>
              </a:spcBef>
            </a:pPr>
            <a:r>
              <a:rPr b="0" lang="en-US" sz="1600" strike="noStrike" u="none">
                <a:solidFill>
                  <a:srgbClr val="2c3e50"/>
                </a:solidFill>
                <a:effectLst/>
                <a:uFillTx/>
                <a:latin typeface="Helvetica Neue"/>
                <a:ea typeface="Helvetica Neue"/>
              </a:rPr>
              <a:t>✅ Build a lightweight, efficient tracking system.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01"/>
              </a:lnSpc>
              <a:spcBef>
                <a:spcPts val="1199"/>
              </a:spcBef>
            </a:pPr>
            <a:r>
              <a:rPr b="0" lang="en-US" sz="1600" strike="noStrike" u="none">
                <a:solidFill>
                  <a:srgbClr val="2c3e50"/>
                </a:solidFill>
                <a:effectLst/>
                <a:uFillTx/>
                <a:latin typeface="Helvetica Neue"/>
                <a:ea typeface="Helvetica Neue"/>
              </a:rPr>
              <a:t>✅ Implement Role-Based Access (Admin/User).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01"/>
              </a:lnSpc>
              <a:spcBef>
                <a:spcPts val="1199"/>
              </a:spcBef>
            </a:pPr>
            <a:r>
              <a:rPr b="0" lang="en-US" sz="1600" strike="noStrike" u="none">
                <a:solidFill>
                  <a:srgbClr val="2c3e50"/>
                </a:solidFill>
                <a:effectLst/>
                <a:uFillTx/>
                <a:latin typeface="Helvetica Neue"/>
                <a:ea typeface="Helvetica Neue"/>
              </a:rPr>
              <a:t>✅ Ensure permanent data storage without complex SQL.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1"/>
          <p:cNvSpPr>
            <a:spLocks noGrp="1"/>
          </p:cNvSpPr>
          <p:nvPr>
            <p:ph type="sldNum" idx="6"/>
          </p:nvPr>
        </p:nvSpPr>
        <p:spPr>
          <a:xfrm>
            <a:off x="8229600" y="6675120"/>
            <a:ext cx="798480" cy="29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trike="noStrike" u="none">
                <a:solidFill>
                  <a:srgbClr val="2c3e5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7438337B-2389-44DE-B1CA-69A984BF404A}" type="slidenum">
              <a:rPr b="0" lang="en-US" sz="1000" strike="noStrike" u="none">
                <a:solidFill>
                  <a:srgbClr val="2c3e5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 0"/>
          <p:cNvSpPr/>
          <p:nvPr/>
        </p:nvSpPr>
        <p:spPr>
          <a:xfrm>
            <a:off x="900000" y="-11160"/>
            <a:ext cx="777096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⚙️  </a:t>
            </a:r>
            <a:r>
              <a:rPr b="1" lang="en-US" sz="2800" strike="noStrike" u="none">
                <a:solidFill>
                  <a:srgbClr val="2c3e50"/>
                </a:solidFill>
                <a:effectLst/>
                <a:uFillTx/>
                <a:latin typeface="Calibri"/>
              </a:rPr>
              <a:t>System Workflow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"/>
          <p:cNvSpPr/>
          <p:nvPr/>
        </p:nvSpPr>
        <p:spPr>
          <a:xfrm>
            <a:off x="900000" y="551160"/>
            <a:ext cx="7770960" cy="520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ts val="2801"/>
              </a:lnSpc>
              <a:spcBef>
                <a:spcPts val="1199"/>
              </a:spcBef>
              <a:buClr>
                <a:srgbClr val="2c3e50"/>
              </a:buClr>
              <a:buFont typeface="Wingdings" charset="2"/>
              <a:buChar char=""/>
            </a:pPr>
            <a:r>
              <a:rPr b="0" lang="en-US" sz="1600" strike="noStrike" u="none">
                <a:solidFill>
                  <a:srgbClr val="2c3e50"/>
                </a:solidFill>
                <a:effectLst/>
                <a:uFillTx/>
                <a:latin typeface="Helvetica Neue"/>
                <a:ea typeface="Helvetica Neue"/>
              </a:rPr>
              <a:t>1. Start Application ➡️ Welcome Screen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2801"/>
              </a:lnSpc>
              <a:spcBef>
                <a:spcPts val="1199"/>
              </a:spcBef>
              <a:buClr>
                <a:srgbClr val="2c3e50"/>
              </a:buClr>
              <a:buFont typeface="Wingdings" charset="2"/>
              <a:buChar char=""/>
            </a:pPr>
            <a:r>
              <a:rPr b="0" lang="en-US" sz="1600" strike="noStrike" u="none">
                <a:solidFill>
                  <a:srgbClr val="2c3e50"/>
                </a:solidFill>
                <a:effectLst/>
                <a:uFillTx/>
                <a:latin typeface="Helvetica Neue"/>
                <a:ea typeface="Helvetica Neue"/>
              </a:rPr>
              <a:t>2. Authentication 🔒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01"/>
              </a:lnSpc>
              <a:spcBef>
                <a:spcPts val="1199"/>
              </a:spcBef>
            </a:pPr>
            <a:r>
              <a:rPr b="0" lang="en-US" sz="1600" strike="noStrike" u="none">
                <a:solidFill>
                  <a:srgbClr val="2c3e50"/>
                </a:solidFill>
                <a:effectLst/>
                <a:uFillTx/>
                <a:latin typeface="Helvetica Neue"/>
                <a:ea typeface="Helvetica Neue"/>
              </a:rPr>
              <a:t>Login (Admin/User) or Register New Account.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2801"/>
              </a:lnSpc>
              <a:spcBef>
                <a:spcPts val="1199"/>
              </a:spcBef>
              <a:buClr>
                <a:srgbClr val="2c3e50"/>
              </a:buClr>
              <a:buFont typeface="Wingdings" charset="2"/>
              <a:buChar char=""/>
            </a:pPr>
            <a:r>
              <a:rPr b="0" lang="en-US" sz="1600" strike="noStrike" u="none">
                <a:solidFill>
                  <a:srgbClr val="2c3e50"/>
                </a:solidFill>
                <a:effectLst/>
                <a:uFillTx/>
                <a:latin typeface="Helvetica Neue"/>
                <a:ea typeface="Helvetica Neue"/>
              </a:rPr>
              <a:t>3. Role-Based Dashboard 🖥️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01"/>
              </a:lnSpc>
              <a:spcBef>
                <a:spcPts val="1199"/>
              </a:spcBef>
            </a:pPr>
            <a:r>
              <a:rPr b="0" lang="en-US" sz="1600" strike="noStrike" u="none">
                <a:solidFill>
                  <a:srgbClr val="2c3e50"/>
                </a:solidFill>
                <a:effectLst/>
                <a:uFillTx/>
                <a:latin typeface="Helvetica Neue"/>
                <a:ea typeface="Helvetica Neue"/>
              </a:rPr>
              <a:t>Admin: Manage Vehicles, Services, Reports.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01"/>
              </a:lnSpc>
              <a:spcBef>
                <a:spcPts val="1199"/>
              </a:spcBef>
            </a:pPr>
            <a:r>
              <a:rPr b="0" lang="en-US" sz="1600" strike="noStrike" u="none">
                <a:solidFill>
                  <a:srgbClr val="2c3e50"/>
                </a:solidFill>
                <a:effectLst/>
                <a:uFillTx/>
                <a:latin typeface="Helvetica Neue"/>
                <a:ea typeface="Helvetica Neue"/>
              </a:rPr>
              <a:t>User: View History, Search Status.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2801"/>
              </a:lnSpc>
              <a:spcBef>
                <a:spcPts val="1199"/>
              </a:spcBef>
              <a:buClr>
                <a:srgbClr val="2c3e50"/>
              </a:buClr>
              <a:buFont typeface="Wingdings" charset="2"/>
              <a:buChar char=""/>
            </a:pPr>
            <a:r>
              <a:rPr b="0" lang="en-US" sz="1600" strike="noStrike" u="none">
                <a:solidFill>
                  <a:srgbClr val="2c3e50"/>
                </a:solidFill>
                <a:effectLst/>
                <a:uFillTx/>
                <a:latin typeface="Helvetica Neue"/>
                <a:ea typeface="Helvetica Neue"/>
              </a:rPr>
              <a:t>4. Data Processing 💾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01"/>
              </a:lnSpc>
              <a:spcBef>
                <a:spcPts val="1199"/>
              </a:spcBef>
            </a:pPr>
            <a:r>
              <a:rPr b="0" lang="en-US" sz="1600" strike="noStrike" u="none">
                <a:solidFill>
                  <a:srgbClr val="2c3e50"/>
                </a:solidFill>
                <a:effectLst/>
                <a:uFillTx/>
                <a:latin typeface="Helvetica Neue"/>
                <a:ea typeface="Helvetica Neue"/>
              </a:rPr>
              <a:t>Inputs verified and saved to .dat files.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2801"/>
              </a:lnSpc>
              <a:spcBef>
                <a:spcPts val="1199"/>
              </a:spcBef>
              <a:buClr>
                <a:srgbClr val="2c3e50"/>
              </a:buClr>
              <a:buFont typeface="Wingdings" charset="2"/>
              <a:buChar char=""/>
            </a:pPr>
            <a:r>
              <a:rPr b="0" lang="en-US" sz="1600" strike="noStrike" u="none">
                <a:solidFill>
                  <a:srgbClr val="2c3e50"/>
                </a:solidFill>
                <a:effectLst/>
                <a:uFillTx/>
                <a:latin typeface="Helvetica Neue"/>
                <a:ea typeface="Helvetica Neue"/>
              </a:rPr>
              <a:t>5. Exit 🛑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1"/>
          <p:cNvSpPr>
            <a:spLocks noGrp="1"/>
          </p:cNvSpPr>
          <p:nvPr>
            <p:ph type="sldNum" idx="7"/>
          </p:nvPr>
        </p:nvSpPr>
        <p:spPr>
          <a:xfrm>
            <a:off x="8229600" y="6675120"/>
            <a:ext cx="798480" cy="29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trike="noStrike" u="none">
                <a:solidFill>
                  <a:srgbClr val="2c3e5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49D37654-64D3-4A88-BE5F-CB0CAD691D25}" type="slidenum">
              <a:rPr b="0" lang="en-US" sz="1000" strike="noStrike" u="none">
                <a:solidFill>
                  <a:srgbClr val="2c3e5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0"/>
          <p:cNvSpPr/>
          <p:nvPr/>
        </p:nvSpPr>
        <p:spPr>
          <a:xfrm>
            <a:off x="914400" y="365760"/>
            <a:ext cx="777096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💻  </a:t>
            </a:r>
            <a:r>
              <a:rPr b="1" lang="en-US" sz="2800" strike="noStrike" u="none">
                <a:solidFill>
                  <a:srgbClr val="2c3e50"/>
                </a:solidFill>
                <a:effectLst/>
                <a:uFillTx/>
                <a:latin typeface="Calibri"/>
              </a:rPr>
              <a:t>Requirements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"/>
          <p:cNvSpPr/>
          <p:nvPr/>
        </p:nvSpPr>
        <p:spPr>
          <a:xfrm>
            <a:off x="914400" y="1091160"/>
            <a:ext cx="7770960" cy="50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ts val="2801"/>
              </a:lnSpc>
              <a:spcBef>
                <a:spcPts val="1199"/>
              </a:spcBef>
              <a:buClr>
                <a:srgbClr val="2c3e50"/>
              </a:buClr>
              <a:buFont typeface="Wingdings" charset="2"/>
              <a:buChar char=""/>
            </a:pPr>
            <a:r>
              <a:rPr b="0" lang="en-US" sz="1600" strike="noStrike" u="none">
                <a:solidFill>
                  <a:srgbClr val="2c3e50"/>
                </a:solidFill>
                <a:effectLst/>
                <a:uFillTx/>
                <a:latin typeface="Helvetica Neue"/>
                <a:ea typeface="Helvetica Neue"/>
              </a:rPr>
              <a:t>Hardware (Minimalist):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01"/>
              </a:lnSpc>
              <a:spcBef>
                <a:spcPts val="1199"/>
              </a:spcBef>
            </a:pPr>
            <a:r>
              <a:rPr b="0" lang="en-US" sz="1600" strike="noStrike" u="none">
                <a:solidFill>
                  <a:srgbClr val="2c3e50"/>
                </a:solidFill>
                <a:effectLst/>
                <a:uFillTx/>
                <a:latin typeface="Helvetica Neue"/>
                <a:ea typeface="Helvetica Neue"/>
              </a:rPr>
              <a:t>Processor: i3 or any modern CPU.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01"/>
              </a:lnSpc>
              <a:spcBef>
                <a:spcPts val="1199"/>
              </a:spcBef>
            </a:pPr>
            <a:r>
              <a:rPr b="0" lang="en-US" sz="1600" strike="noStrike" u="none">
                <a:solidFill>
                  <a:srgbClr val="2c3e50"/>
                </a:solidFill>
                <a:effectLst/>
                <a:uFillTx/>
                <a:latin typeface="Helvetica Neue"/>
                <a:ea typeface="Helvetica Neue"/>
              </a:rPr>
              <a:t>RAM: 4GB recommended.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01"/>
              </a:lnSpc>
              <a:spcBef>
                <a:spcPts val="1199"/>
              </a:spcBef>
            </a:pPr>
            <a:r>
              <a:rPr b="0" lang="en-US" sz="1600" strike="noStrike" u="none">
                <a:solidFill>
                  <a:srgbClr val="2c3e50"/>
                </a:solidFill>
                <a:effectLst/>
                <a:uFillTx/>
                <a:latin typeface="Helvetica Neue"/>
                <a:ea typeface="Helvetica Neue"/>
              </a:rPr>
              <a:t>Storage: &lt; 50MB disk space.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2801"/>
              </a:lnSpc>
              <a:spcBef>
                <a:spcPts val="1199"/>
              </a:spcBef>
              <a:buClr>
                <a:srgbClr val="2c3e50"/>
              </a:buClr>
              <a:buFont typeface="Wingdings" charset="2"/>
              <a:buChar char=""/>
            </a:pPr>
            <a:r>
              <a:rPr b="0" lang="en-US" sz="1600" strike="noStrike" u="none">
                <a:solidFill>
                  <a:srgbClr val="2c3e50"/>
                </a:solidFill>
                <a:effectLst/>
                <a:uFillTx/>
                <a:latin typeface="Helvetica Neue"/>
                <a:ea typeface="Helvetica Neue"/>
              </a:rPr>
              <a:t>Software: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01"/>
              </a:lnSpc>
              <a:spcBef>
                <a:spcPts val="1199"/>
              </a:spcBef>
            </a:pPr>
            <a:r>
              <a:rPr b="0" lang="en-US" sz="1600" strike="noStrike" u="none">
                <a:solidFill>
                  <a:srgbClr val="2c3e50"/>
                </a:solidFill>
                <a:effectLst/>
                <a:uFillTx/>
                <a:latin typeface="Helvetica Neue"/>
                <a:ea typeface="Helvetica Neue"/>
              </a:rPr>
              <a:t>OS: Windows 10/11.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01"/>
              </a:lnSpc>
              <a:spcBef>
                <a:spcPts val="1199"/>
              </a:spcBef>
            </a:pPr>
            <a:r>
              <a:rPr b="0" lang="en-US" sz="1600" strike="noStrike" u="none">
                <a:solidFill>
                  <a:srgbClr val="2c3e50"/>
                </a:solidFill>
                <a:effectLst/>
                <a:uFillTx/>
                <a:latin typeface="Helvetica Neue"/>
                <a:ea typeface="Helvetica Neue"/>
              </a:rPr>
              <a:t>Terminal: PowerShell or Command Prompt.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01"/>
              </a:lnSpc>
              <a:spcBef>
                <a:spcPts val="1199"/>
              </a:spcBef>
            </a:pPr>
            <a:r>
              <a:rPr b="0" lang="en-US" sz="1600" strike="noStrike" u="none">
                <a:solidFill>
                  <a:srgbClr val="2c3e50"/>
                </a:solidFill>
                <a:effectLst/>
                <a:uFillTx/>
                <a:latin typeface="Helvetica Neue"/>
                <a:ea typeface="Helvetica Neue"/>
              </a:rPr>
              <a:t>Compiler: GCC (MinGW) for development.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1"/>
          <p:cNvSpPr>
            <a:spLocks noGrp="1"/>
          </p:cNvSpPr>
          <p:nvPr>
            <p:ph type="sldNum" idx="8"/>
          </p:nvPr>
        </p:nvSpPr>
        <p:spPr>
          <a:xfrm>
            <a:off x="8229600" y="6675120"/>
            <a:ext cx="798480" cy="29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trike="noStrike" u="none">
                <a:solidFill>
                  <a:srgbClr val="2c3e5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67D5E7EA-087A-4333-A7F0-91C877ED605D}" type="slidenum">
              <a:rPr b="0" lang="en-US" sz="1000" strike="noStrike" u="none">
                <a:solidFill>
                  <a:srgbClr val="2c3e5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0"/>
          <p:cNvSpPr/>
          <p:nvPr/>
        </p:nvSpPr>
        <p:spPr>
          <a:xfrm>
            <a:off x="914400" y="365760"/>
            <a:ext cx="777096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🛠️  </a:t>
            </a:r>
            <a:r>
              <a:rPr b="1" lang="en-US" sz="2800" strike="noStrike" u="none">
                <a:solidFill>
                  <a:srgbClr val="2c3e50"/>
                </a:solidFill>
                <a:effectLst/>
                <a:uFillTx/>
                <a:latin typeface="Calibri"/>
              </a:rPr>
              <a:t>Tech Stack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"/>
          <p:cNvSpPr/>
          <p:nvPr/>
        </p:nvSpPr>
        <p:spPr>
          <a:xfrm>
            <a:off x="914400" y="1371600"/>
            <a:ext cx="7770960" cy="50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ts val="2801"/>
              </a:lnSpc>
              <a:spcBef>
                <a:spcPts val="1199"/>
              </a:spcBef>
              <a:buClr>
                <a:srgbClr val="2c3e50"/>
              </a:buClr>
              <a:buFont typeface="Wingdings" charset="2"/>
              <a:buChar char=""/>
            </a:pPr>
            <a:r>
              <a:rPr b="0" lang="en-US" sz="1600" strike="noStrike" u="none">
                <a:solidFill>
                  <a:srgbClr val="2c3e50"/>
                </a:solidFill>
                <a:effectLst/>
                <a:uFillTx/>
                <a:latin typeface="Helvetica Neue"/>
                <a:ea typeface="Helvetica Neue"/>
              </a:rPr>
              <a:t>Language: C (Standard C99) - Core Logic.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2801"/>
              </a:lnSpc>
              <a:spcBef>
                <a:spcPts val="1199"/>
              </a:spcBef>
              <a:buClr>
                <a:srgbClr val="2c3e50"/>
              </a:buClr>
              <a:buFont typeface="Wingdings" charset="2"/>
              <a:buChar char=""/>
            </a:pPr>
            <a:r>
              <a:rPr b="0" lang="en-US" sz="1600" strike="noStrike" u="none">
                <a:solidFill>
                  <a:srgbClr val="2c3e50"/>
                </a:solidFill>
                <a:effectLst/>
                <a:uFillTx/>
                <a:latin typeface="Helvetica Neue"/>
                <a:ea typeface="Helvetica Neue"/>
              </a:rPr>
              <a:t>IDE: Visual Studio Code.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2801"/>
              </a:lnSpc>
              <a:spcBef>
                <a:spcPts val="1199"/>
              </a:spcBef>
              <a:buClr>
                <a:srgbClr val="2c3e50"/>
              </a:buClr>
              <a:buFont typeface="Wingdings" charset="2"/>
              <a:buChar char=""/>
            </a:pPr>
            <a:r>
              <a:rPr b="0" lang="en-US" sz="1600" strike="noStrike" u="none">
                <a:solidFill>
                  <a:srgbClr val="2c3e50"/>
                </a:solidFill>
                <a:effectLst/>
                <a:uFillTx/>
                <a:latin typeface="Helvetica Neue"/>
                <a:ea typeface="Helvetica Neue"/>
              </a:rPr>
              <a:t>Compilers: GCC / Make tools.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2801"/>
              </a:lnSpc>
              <a:spcBef>
                <a:spcPts val="1199"/>
              </a:spcBef>
              <a:buClr>
                <a:srgbClr val="2c3e50"/>
              </a:buClr>
              <a:buFont typeface="Wingdings" charset="2"/>
              <a:buChar char=""/>
            </a:pPr>
            <a:r>
              <a:rPr b="0" lang="en-US" sz="1600" strike="noStrike" u="none">
                <a:solidFill>
                  <a:srgbClr val="2c3e50"/>
                </a:solidFill>
                <a:effectLst/>
                <a:uFillTx/>
                <a:latin typeface="Helvetica Neue"/>
                <a:ea typeface="Helvetica Neue"/>
              </a:rPr>
              <a:t>Scripts: Batch (.bat) for auto-compilation.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2801"/>
              </a:lnSpc>
              <a:spcBef>
                <a:spcPts val="1199"/>
              </a:spcBef>
              <a:buClr>
                <a:srgbClr val="2c3e50"/>
              </a:buClr>
              <a:buFont typeface="Wingdings" charset="2"/>
              <a:buChar char=""/>
            </a:pPr>
            <a:r>
              <a:rPr b="0" lang="en-US" sz="1600" strike="noStrike" u="none">
                <a:solidFill>
                  <a:srgbClr val="2c3e50"/>
                </a:solidFill>
                <a:effectLst/>
                <a:uFillTx/>
                <a:latin typeface="Helvetica Neue"/>
                <a:ea typeface="Helvetica Neue"/>
              </a:rPr>
              <a:t>Design: ANSI Escape Codes for CLI Colors.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2801"/>
              </a:lnSpc>
              <a:spcBef>
                <a:spcPts val="1199"/>
              </a:spcBef>
              <a:buClr>
                <a:srgbClr val="2c3e50"/>
              </a:buClr>
              <a:buFont typeface="Wingdings" charset="2"/>
              <a:buChar char=""/>
            </a:pPr>
            <a:r>
              <a:rPr b="0" lang="en-US" sz="1600" strike="noStrike" u="none">
                <a:solidFill>
                  <a:srgbClr val="2c3e50"/>
                </a:solidFill>
                <a:effectLst/>
                <a:uFillTx/>
                <a:latin typeface="Helvetica Neue"/>
                <a:ea typeface="Helvetica Neue"/>
              </a:rPr>
              <a:t>Version Control: Git &amp; GitHub.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1"/>
          <p:cNvSpPr>
            <a:spLocks noGrp="1"/>
          </p:cNvSpPr>
          <p:nvPr>
            <p:ph type="sldNum" idx="9"/>
          </p:nvPr>
        </p:nvSpPr>
        <p:spPr>
          <a:xfrm>
            <a:off x="8229600" y="6675120"/>
            <a:ext cx="798480" cy="29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trike="noStrike" u="none">
                <a:solidFill>
                  <a:srgbClr val="2c3e5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3B4141C3-1B78-49A7-8FC4-8BC27C5767BC}" type="slidenum">
              <a:rPr b="0" lang="en-US" sz="1000" strike="noStrike" u="none">
                <a:solidFill>
                  <a:srgbClr val="2c3e5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"/>
          <p:cNvSpPr/>
          <p:nvPr/>
        </p:nvSpPr>
        <p:spPr>
          <a:xfrm>
            <a:off x="1080000" y="800640"/>
            <a:ext cx="5759280" cy="38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-IN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Programming Language: C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en-IN" sz="2000" strike="noStrike" u="sng">
                <a:solidFill>
                  <a:schemeClr val="dk1"/>
                </a:solidFill>
                <a:effectLst/>
                <a:uFillTx/>
                <a:latin typeface="Calibri"/>
              </a:rPr>
              <a:t>Concepts Used</a:t>
            </a:r>
            <a:r>
              <a:rPr b="0" lang="en-IN" sz="2000" strike="noStrike" u="sng">
                <a:solidFill>
                  <a:schemeClr val="dk1"/>
                </a:solidFill>
                <a:effectLst/>
                <a:uFillTx/>
                <a:latin typeface="Calibri"/>
              </a:rPr>
              <a:t>: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440" indent="-51444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0" lang="en-IN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File handling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440" indent="-51444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0" lang="en-IN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Structures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440" indent="-51444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0" lang="en-IN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Functions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en-IN" sz="2000" strike="noStrike" u="sng">
                <a:solidFill>
                  <a:schemeClr val="dk1"/>
                </a:solidFill>
                <a:effectLst/>
                <a:uFillTx/>
                <a:latin typeface="Calibri"/>
              </a:rPr>
              <a:t>Development Tools</a:t>
            </a:r>
            <a:r>
              <a:rPr b="0" lang="en-IN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440" indent="-51444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0" lang="en-IN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GCC Compiler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440" indent="-51444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0" lang="en-IN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VS Code / CodeBlocks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440" indent="-51444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0" lang="en-IN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Platform: Desktop based application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1111320" y="233280"/>
            <a:ext cx="4467960" cy="80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IN" sz="2800" strike="noStrike" u="none">
                <a:solidFill>
                  <a:srgbClr val="666666"/>
                </a:solidFill>
                <a:effectLst/>
                <a:uFillTx/>
                <a:latin typeface="Calibri"/>
              </a:rPr>
              <a:t>⚙️Technologies/Tools Used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0"/>
          <p:cNvSpPr/>
          <p:nvPr/>
        </p:nvSpPr>
        <p:spPr>
          <a:xfrm>
            <a:off x="867960" y="-11160"/>
            <a:ext cx="777096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🧩  </a:t>
            </a:r>
            <a:r>
              <a:rPr b="1" lang="en-US" sz="2800" strike="noStrike" u="none">
                <a:solidFill>
                  <a:srgbClr val="2c3e50"/>
                </a:solidFill>
                <a:effectLst/>
                <a:uFillTx/>
                <a:latin typeface="Calibri"/>
              </a:rPr>
              <a:t>Implementation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"/>
          <p:cNvSpPr/>
          <p:nvPr/>
        </p:nvSpPr>
        <p:spPr>
          <a:xfrm>
            <a:off x="900000" y="540000"/>
            <a:ext cx="7770960" cy="50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ts val="2801"/>
              </a:lnSpc>
              <a:spcBef>
                <a:spcPts val="1199"/>
              </a:spcBef>
              <a:buClr>
                <a:srgbClr val="2c3e50"/>
              </a:buClr>
              <a:buFont typeface="Wingdings" charset="2"/>
              <a:buChar char=""/>
            </a:pPr>
            <a:r>
              <a:rPr b="0" lang="en-US" sz="1600" strike="noStrike" u="none">
                <a:solidFill>
                  <a:srgbClr val="2c3e50"/>
                </a:solidFill>
                <a:effectLst/>
                <a:uFillTx/>
                <a:latin typeface="Helvetica Neue"/>
                <a:ea typeface="Helvetica Neue"/>
              </a:rPr>
              <a:t>Modular Architecture: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01"/>
              </a:lnSpc>
              <a:spcBef>
                <a:spcPts val="1199"/>
              </a:spcBef>
            </a:pPr>
            <a:r>
              <a:rPr b="0" lang="en-US" sz="1600" strike="noStrike" u="none">
                <a:solidFill>
                  <a:srgbClr val="2c3e50"/>
                </a:solidFill>
                <a:effectLst/>
                <a:uFillTx/>
                <a:latin typeface="Helvetica Neue"/>
                <a:ea typeface="Helvetica Neue"/>
              </a:rPr>
              <a:t>📄 auth.c: Login/Register &amp; Encryption.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01"/>
              </a:lnSpc>
              <a:spcBef>
                <a:spcPts val="1199"/>
              </a:spcBef>
            </a:pPr>
            <a:r>
              <a:rPr b="0" lang="en-US" sz="1600" strike="noStrike" u="none">
                <a:solidFill>
                  <a:srgbClr val="2c3e50"/>
                </a:solidFill>
                <a:effectLst/>
                <a:uFillTx/>
                <a:latin typeface="Helvetica Neue"/>
                <a:ea typeface="Helvetica Neue"/>
              </a:rPr>
              <a:t>🚗 vehicle.c: Vehicle Inventory Management.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01"/>
              </a:lnSpc>
              <a:spcBef>
                <a:spcPts val="1199"/>
              </a:spcBef>
            </a:pPr>
            <a:r>
              <a:rPr b="0" lang="en-US" sz="1600" strike="noStrike" u="none">
                <a:solidFill>
                  <a:srgbClr val="2c3e50"/>
                </a:solidFill>
                <a:effectLst/>
                <a:uFillTx/>
                <a:latin typeface="Helvetica Neue"/>
                <a:ea typeface="Helvetica Neue"/>
              </a:rPr>
              <a:t>🔧 service.c: Service job Tracking.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01"/>
              </a:lnSpc>
              <a:spcBef>
                <a:spcPts val="1199"/>
              </a:spcBef>
            </a:pPr>
            <a:r>
              <a:rPr b="0" lang="en-US" sz="1600" strike="noStrike" u="none">
                <a:solidFill>
                  <a:srgbClr val="2c3e50"/>
                </a:solidFill>
                <a:effectLst/>
                <a:uFillTx/>
                <a:latin typeface="Helvetica Neue"/>
                <a:ea typeface="Helvetica Neue"/>
              </a:rPr>
              <a:t>🎨 ui.c: Styling &amp; Interface Helpers.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2801"/>
              </a:lnSpc>
              <a:spcBef>
                <a:spcPts val="1199"/>
              </a:spcBef>
              <a:buClr>
                <a:srgbClr val="2c3e50"/>
              </a:buClr>
              <a:buFont typeface="Wingdings" charset="2"/>
              <a:buChar char=""/>
            </a:pPr>
            <a:r>
              <a:rPr b="0" lang="en-US" sz="1600" strike="noStrike" u="none">
                <a:solidFill>
                  <a:srgbClr val="2c3e50"/>
                </a:solidFill>
                <a:effectLst/>
                <a:uFillTx/>
                <a:latin typeface="Helvetica Neue"/>
                <a:ea typeface="Helvetica Neue"/>
              </a:rPr>
              <a:t>Key Techniques: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01"/>
              </a:lnSpc>
              <a:spcBef>
                <a:spcPts val="1199"/>
              </a:spcBef>
            </a:pPr>
            <a:r>
              <a:rPr b="0" lang="en-US" sz="1600" strike="noStrike" u="none">
                <a:solidFill>
                  <a:srgbClr val="2c3e50"/>
                </a:solidFill>
                <a:effectLst/>
                <a:uFillTx/>
                <a:latin typeface="Helvetica Neue"/>
                <a:ea typeface="Helvetica Neue"/>
              </a:rPr>
              <a:t>Binary File I/O (fread/fwrite).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01"/>
              </a:lnSpc>
              <a:spcBef>
                <a:spcPts val="1199"/>
              </a:spcBef>
            </a:pPr>
            <a:r>
              <a:rPr b="0" lang="en-US" sz="1600" strike="noStrike" u="none">
                <a:solidFill>
                  <a:srgbClr val="2c3e50"/>
                </a:solidFill>
                <a:effectLst/>
                <a:uFillTx/>
                <a:latin typeface="Helvetica Neue"/>
                <a:ea typeface="Helvetica Neue"/>
              </a:rPr>
              <a:t>Pointers for efficient memory usage.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01"/>
              </a:lnSpc>
              <a:spcBef>
                <a:spcPts val="1199"/>
              </a:spcBef>
            </a:pPr>
            <a:r>
              <a:rPr b="0" lang="en-US" sz="1600" strike="noStrike" u="none">
                <a:solidFill>
                  <a:srgbClr val="2c3e50"/>
                </a:solidFill>
                <a:effectLst/>
                <a:uFillTx/>
                <a:latin typeface="Helvetica Neue"/>
                <a:ea typeface="Helvetica Neue"/>
              </a:rPr>
              <a:t>Structs for data modeling.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1"/>
          <p:cNvSpPr>
            <a:spLocks noGrp="1"/>
          </p:cNvSpPr>
          <p:nvPr>
            <p:ph type="sldNum" idx="10"/>
          </p:nvPr>
        </p:nvSpPr>
        <p:spPr>
          <a:xfrm>
            <a:off x="8229600" y="6675120"/>
            <a:ext cx="798480" cy="29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trike="noStrike" u="none">
                <a:solidFill>
                  <a:srgbClr val="2c3e5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2BC3177D-DF7A-45C5-A89D-BB09BD272FC5}" type="slidenum">
              <a:rPr b="0" lang="en-US" sz="1000" strike="noStrike" u="none">
                <a:solidFill>
                  <a:srgbClr val="2c3e5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"/>
          <p:cNvSpPr/>
          <p:nvPr/>
        </p:nvSpPr>
        <p:spPr>
          <a:xfrm>
            <a:off x="1143360" y="284040"/>
            <a:ext cx="7675920" cy="11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IN" sz="2800" strike="noStrike" u="none">
                <a:solidFill>
                  <a:srgbClr val="333333"/>
                </a:solidFill>
                <a:effectLst/>
                <a:uFillTx/>
                <a:latin typeface="Calibri"/>
              </a:rPr>
              <a:t>📸Snapshots:</a:t>
            </a:r>
            <a:br>
              <a:rPr sz="2800"/>
            </a:br>
            <a:br>
              <a:rPr sz="2800"/>
            </a:b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1260000" y="720000"/>
            <a:ext cx="5039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 Folder structure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9" name="" descr=""/>
          <p:cNvPicPr/>
          <p:nvPr/>
        </p:nvPicPr>
        <p:blipFill>
          <a:blip r:embed="rId1"/>
          <a:stretch/>
        </p:blipFill>
        <p:spPr>
          <a:xfrm>
            <a:off x="900000" y="1156320"/>
            <a:ext cx="5939640" cy="370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"/>
          <p:cNvSpPr/>
          <p:nvPr/>
        </p:nvSpPr>
        <p:spPr>
          <a:xfrm>
            <a:off x="1440000" y="373680"/>
            <a:ext cx="441072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Welcome Screen / Auth Interface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1" name="" descr=""/>
          <p:cNvPicPr/>
          <p:nvPr/>
        </p:nvPicPr>
        <p:blipFill>
          <a:blip r:embed="rId1"/>
          <a:stretch/>
        </p:blipFill>
        <p:spPr>
          <a:xfrm>
            <a:off x="1080000" y="795240"/>
            <a:ext cx="6299640" cy="4064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"/>
          <p:cNvSpPr/>
          <p:nvPr/>
        </p:nvSpPr>
        <p:spPr>
          <a:xfrm>
            <a:off x="1440000" y="360000"/>
            <a:ext cx="315252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Admin Dashboard / Menu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3" name="" descr=""/>
          <p:cNvPicPr/>
          <p:nvPr/>
        </p:nvPicPr>
        <p:blipFill>
          <a:blip r:embed="rId1"/>
          <a:stretch/>
        </p:blipFill>
        <p:spPr>
          <a:xfrm>
            <a:off x="900000" y="900000"/>
            <a:ext cx="6839640" cy="4113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"/>
          <p:cNvSpPr/>
          <p:nvPr/>
        </p:nvSpPr>
        <p:spPr>
          <a:xfrm>
            <a:off x="1260000" y="540000"/>
            <a:ext cx="330552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Vehicle Management Menu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5" name="" descr=""/>
          <p:cNvPicPr/>
          <p:nvPr/>
        </p:nvPicPr>
        <p:blipFill>
          <a:blip r:embed="rId1"/>
          <a:stretch/>
        </p:blipFill>
        <p:spPr>
          <a:xfrm>
            <a:off x="900000" y="954360"/>
            <a:ext cx="7199640" cy="4085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"/>
          <p:cNvSpPr/>
          <p:nvPr/>
        </p:nvSpPr>
        <p:spPr>
          <a:xfrm>
            <a:off x="1980000" y="360000"/>
            <a:ext cx="294948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User Dashboard / Menu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7" name="" descr=""/>
          <p:cNvPicPr/>
          <p:nvPr/>
        </p:nvPicPr>
        <p:blipFill>
          <a:blip r:embed="rId1"/>
          <a:stretch/>
        </p:blipFill>
        <p:spPr>
          <a:xfrm>
            <a:off x="900000" y="720000"/>
            <a:ext cx="7199640" cy="4239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 0"/>
          <p:cNvSpPr/>
          <p:nvPr/>
        </p:nvSpPr>
        <p:spPr>
          <a:xfrm>
            <a:off x="900000" y="169560"/>
            <a:ext cx="7770960" cy="37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📊  </a:t>
            </a:r>
            <a:r>
              <a:rPr b="1" lang="en-US" sz="2800" strike="noStrike" u="none">
                <a:solidFill>
                  <a:srgbClr val="2c3e50"/>
                </a:solidFill>
                <a:effectLst/>
                <a:uFillTx/>
                <a:latin typeface="Calibri"/>
              </a:rPr>
              <a:t>Results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1"/>
          <p:cNvSpPr/>
          <p:nvPr/>
        </p:nvSpPr>
        <p:spPr>
          <a:xfrm>
            <a:off x="900000" y="540000"/>
            <a:ext cx="7785360" cy="50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ts val="2801"/>
              </a:lnSpc>
              <a:spcBef>
                <a:spcPts val="1199"/>
              </a:spcBef>
              <a:buClr>
                <a:srgbClr val="2c3e50"/>
              </a:buClr>
              <a:buFont typeface="Wingdings" charset="2"/>
              <a:buChar char=""/>
            </a:pPr>
            <a:r>
              <a:rPr b="0" lang="en-US" sz="1200" strike="noStrike" u="none">
                <a:solidFill>
                  <a:srgbClr val="2c3e50"/>
                </a:solidFill>
                <a:effectLst/>
                <a:uFillTx/>
                <a:latin typeface="Helvetica Neue"/>
                <a:ea typeface="Helvetica Neue"/>
              </a:rPr>
              <a:t>✅ Successful Deployment on Windows.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2801"/>
              </a:lnSpc>
              <a:spcBef>
                <a:spcPts val="1199"/>
              </a:spcBef>
              <a:buClr>
                <a:srgbClr val="2c3e50"/>
              </a:buClr>
              <a:buFont typeface="Wingdings" charset="2"/>
              <a:buChar char=""/>
            </a:pPr>
            <a:r>
              <a:rPr b="0" lang="en-US" sz="1200" strike="noStrike" u="none">
                <a:solidFill>
                  <a:srgbClr val="2c3e50"/>
                </a:solidFill>
                <a:effectLst/>
                <a:uFillTx/>
                <a:latin typeface="Helvetica Neue"/>
                <a:ea typeface="Helvetica Neue"/>
              </a:rPr>
              <a:t>✅ Admin Can easily Add,update or delete Vehicles.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2801"/>
              </a:lnSpc>
              <a:spcBef>
                <a:spcPts val="1199"/>
              </a:spcBef>
              <a:buClr>
                <a:srgbClr val="2c3e50"/>
              </a:buClr>
              <a:buFont typeface="Wingdings" charset="2"/>
              <a:buChar char=""/>
            </a:pPr>
            <a:r>
              <a:rPr b="0" lang="en-US" sz="1200" strike="noStrike" u="none">
                <a:solidFill>
                  <a:srgbClr val="2c3e50"/>
                </a:solidFill>
                <a:effectLst/>
                <a:uFillTx/>
                <a:latin typeface="Helvetica Neue"/>
                <a:ea typeface="Helvetica Neue"/>
              </a:rPr>
              <a:t>✅ Instant Search functionality for finding vehicles.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2801"/>
              </a:lnSpc>
              <a:spcBef>
                <a:spcPts val="1199"/>
              </a:spcBef>
              <a:buClr>
                <a:srgbClr val="2c3e50"/>
              </a:buClr>
              <a:buFont typeface="Wingdings" charset="2"/>
              <a:buChar char=""/>
            </a:pPr>
            <a:r>
              <a:rPr b="0" lang="en-US" sz="1200" strike="noStrike" u="none">
                <a:solidFill>
                  <a:srgbClr val="2c3e50"/>
                </a:solidFill>
                <a:effectLst/>
                <a:uFillTx/>
                <a:latin typeface="Helvetica Neue"/>
                <a:ea typeface="Helvetica Neue"/>
              </a:rPr>
              <a:t>✅ Zero-Crash stability during file operations.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2801"/>
              </a:lnSpc>
              <a:spcBef>
                <a:spcPts val="1199"/>
              </a:spcBef>
              <a:buClr>
                <a:srgbClr val="2c3e50"/>
              </a:buClr>
              <a:buFont typeface="Wingdings" charset="2"/>
              <a:buChar char=""/>
            </a:pPr>
            <a:r>
              <a:rPr b="0" lang="en-US" sz="1200" strike="noStrike" u="none">
                <a:solidFill>
                  <a:srgbClr val="2c3e50"/>
                </a:solidFill>
                <a:effectLst/>
                <a:uFillTx/>
                <a:latin typeface="Helvetica Neue"/>
                <a:ea typeface="Helvetica Neue"/>
              </a:rPr>
              <a:t>✅ Professional CLI look with Green/Red status indicators.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2801"/>
              </a:lnSpc>
              <a:spcBef>
                <a:spcPts val="1199"/>
              </a:spcBef>
              <a:buClr>
                <a:srgbClr val="2c3e50"/>
              </a:buClr>
              <a:buFont typeface="Wingdings" charset="2"/>
              <a:buChar char=""/>
            </a:pPr>
            <a:r>
              <a:rPr b="0" lang="en-US" sz="1200" strike="noStrike" u="none">
                <a:solidFill>
                  <a:srgbClr val="2c3e50"/>
                </a:solidFill>
                <a:effectLst/>
                <a:uFillTx/>
                <a:latin typeface="Helvetica Neue"/>
                <a:ea typeface="Helvetica Neue"/>
              </a:rPr>
              <a:t>✅The system successfully stores and manages vehicle service records.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2801"/>
              </a:lnSpc>
              <a:spcBef>
                <a:spcPts val="1199"/>
              </a:spcBef>
              <a:buClr>
                <a:srgbClr val="2c3e50"/>
              </a:buClr>
              <a:buFont typeface="Wingdings" charset="2"/>
              <a:buChar char=""/>
            </a:pPr>
            <a:r>
              <a:rPr b="0" lang="en-US" sz="1200" strike="noStrike" u="none">
                <a:solidFill>
                  <a:srgbClr val="2c3e50"/>
                </a:solidFill>
                <a:effectLst/>
                <a:uFillTx/>
                <a:latin typeface="Helvetica Neue"/>
                <a:ea typeface="Helvetica Neue"/>
              </a:rPr>
              <a:t>✅Users can easily add, view, and search service details.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2801"/>
              </a:lnSpc>
              <a:spcBef>
                <a:spcPts val="1199"/>
              </a:spcBef>
              <a:buClr>
                <a:srgbClr val="2c3e50"/>
              </a:buClr>
              <a:buFont typeface="Wingdings" charset="2"/>
              <a:buChar char=""/>
            </a:pPr>
            <a:r>
              <a:rPr b="0" lang="en-US" sz="1200" strike="noStrike" u="none">
                <a:solidFill>
                  <a:srgbClr val="2c3e50"/>
                </a:solidFill>
                <a:effectLst/>
                <a:uFillTx/>
                <a:latin typeface="Helvetica Neue"/>
                <a:ea typeface="Helvetica Neue"/>
              </a:rPr>
              <a:t>✅All data is saved permanently using file handling, even after the program is closed.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2801"/>
              </a:lnSpc>
              <a:spcBef>
                <a:spcPts val="1199"/>
              </a:spcBef>
              <a:buClr>
                <a:srgbClr val="2c3e50"/>
              </a:buClr>
              <a:buFont typeface="Wingdings" charset="2"/>
              <a:buChar char=""/>
            </a:pPr>
            <a:r>
              <a:rPr b="0" lang="en-US" sz="1200" strike="noStrike" u="none">
                <a:solidFill>
                  <a:srgbClr val="2c3e50"/>
                </a:solidFill>
                <a:effectLst/>
                <a:uFillTx/>
                <a:latin typeface="Helvetica Neue"/>
                <a:ea typeface="Helvetica Neue"/>
              </a:rPr>
              <a:t>✅The output generated by the system is accurate and reliable.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1"/>
          <p:cNvSpPr>
            <a:spLocks noGrp="1"/>
          </p:cNvSpPr>
          <p:nvPr>
            <p:ph type="sldNum" idx="11"/>
          </p:nvPr>
        </p:nvSpPr>
        <p:spPr>
          <a:xfrm>
            <a:off x="8229600" y="6675120"/>
            <a:ext cx="798480" cy="29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trike="noStrike" u="none">
                <a:solidFill>
                  <a:srgbClr val="2c3e5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39CC704B-D51F-4A87-8143-3242CA25F371}" type="slidenum">
              <a:rPr b="0" lang="en-US" sz="1000" strike="noStrike" u="none">
                <a:solidFill>
                  <a:srgbClr val="2c3e5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"/>
          <p:cNvSpPr/>
          <p:nvPr/>
        </p:nvSpPr>
        <p:spPr>
          <a:xfrm>
            <a:off x="1080000" y="454320"/>
            <a:ext cx="3662280" cy="44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IN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📊📸Result Snapshots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882720" y="1093680"/>
            <a:ext cx="811692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View Vehicles :Shows all vehicles list (Can only be accessed by admin)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3" name="" descr=""/>
          <p:cNvPicPr/>
          <p:nvPr/>
        </p:nvPicPr>
        <p:blipFill>
          <a:blip r:embed="rId1"/>
          <a:stretch/>
        </p:blipFill>
        <p:spPr>
          <a:xfrm>
            <a:off x="1080000" y="1440000"/>
            <a:ext cx="5939640" cy="3599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"/>
          <p:cNvSpPr/>
          <p:nvPr/>
        </p:nvSpPr>
        <p:spPr>
          <a:xfrm>
            <a:off x="900000" y="477720"/>
            <a:ext cx="8099640" cy="60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Service History: Shows Service History of Vehicle using Vehicle No.  (For  User)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5" name="" descr=""/>
          <p:cNvPicPr/>
          <p:nvPr/>
        </p:nvPicPr>
        <p:blipFill>
          <a:blip r:embed="rId1"/>
          <a:stretch/>
        </p:blipFill>
        <p:spPr>
          <a:xfrm>
            <a:off x="1080000" y="1260000"/>
            <a:ext cx="5759640" cy="3674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"/>
          <p:cNvSpPr/>
          <p:nvPr/>
        </p:nvSpPr>
        <p:spPr>
          <a:xfrm>
            <a:off x="900000" y="360000"/>
            <a:ext cx="8099640" cy="89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Search Vehicle : Shows the details of vehicle after taking Vehicle No.(For Both  User and Admin)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7" name="" descr=""/>
          <p:cNvPicPr/>
          <p:nvPr/>
        </p:nvPicPr>
        <p:blipFill>
          <a:blip r:embed="rId1"/>
          <a:stretch/>
        </p:blipFill>
        <p:spPr>
          <a:xfrm>
            <a:off x="1080000" y="1080000"/>
            <a:ext cx="6479640" cy="3886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 0"/>
          <p:cNvSpPr/>
          <p:nvPr/>
        </p:nvSpPr>
        <p:spPr>
          <a:xfrm>
            <a:off x="914400" y="180000"/>
            <a:ext cx="777096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⚖️  </a:t>
            </a:r>
            <a:r>
              <a:rPr b="1" lang="en-US" sz="2800" strike="noStrike" u="none">
                <a:solidFill>
                  <a:srgbClr val="2c3e50"/>
                </a:solidFill>
                <a:effectLst/>
                <a:uFillTx/>
                <a:latin typeface="Calibri"/>
              </a:rPr>
              <a:t>Analysis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1"/>
          <p:cNvSpPr/>
          <p:nvPr/>
        </p:nvSpPr>
        <p:spPr>
          <a:xfrm>
            <a:off x="1080000" y="911160"/>
            <a:ext cx="7770960" cy="50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ts val="2801"/>
              </a:lnSpc>
              <a:spcBef>
                <a:spcPts val="1199"/>
              </a:spcBef>
              <a:buClr>
                <a:srgbClr val="2c3e50"/>
              </a:buClr>
              <a:buFont typeface="Wingdings" charset="2"/>
              <a:buChar char=""/>
            </a:pPr>
            <a:r>
              <a:rPr b="0" lang="en-US" sz="1600" strike="noStrike" u="none">
                <a:solidFill>
                  <a:srgbClr val="2c3e50"/>
                </a:solidFill>
                <a:effectLst/>
                <a:uFillTx/>
                <a:latin typeface="Helvetica Neue"/>
                <a:ea typeface="Helvetica Neue"/>
              </a:rPr>
              <a:t>Advantages: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01"/>
              </a:lnSpc>
              <a:spcBef>
                <a:spcPts val="1199"/>
              </a:spcBef>
            </a:pPr>
            <a:r>
              <a:rPr b="0" lang="en-US" sz="1600" strike="noStrike" u="none">
                <a:solidFill>
                  <a:srgbClr val="2c3e50"/>
                </a:solidFill>
                <a:effectLst/>
                <a:uFillTx/>
                <a:latin typeface="Helvetica Neue"/>
                <a:ea typeface="Helvetica Neue"/>
              </a:rPr>
              <a:t>⚡ Blazing Fast (No bloatware).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01"/>
              </a:lnSpc>
              <a:spcBef>
                <a:spcPts val="1199"/>
              </a:spcBef>
            </a:pPr>
            <a:r>
              <a:rPr b="0" lang="en-US" sz="1600" strike="noStrike" u="none">
                <a:solidFill>
                  <a:srgbClr val="2c3e50"/>
                </a:solidFill>
                <a:effectLst/>
                <a:uFillTx/>
                <a:latin typeface="Helvetica Neue"/>
                <a:ea typeface="Helvetica Neue"/>
              </a:rPr>
              <a:t>🔒 Secure Data (Local binary storage).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01"/>
              </a:lnSpc>
              <a:spcBef>
                <a:spcPts val="1199"/>
              </a:spcBef>
            </a:pPr>
            <a:r>
              <a:rPr b="0" lang="en-US" sz="1600" strike="noStrike" u="none">
                <a:solidFill>
                  <a:srgbClr val="2c3e50"/>
                </a:solidFill>
                <a:effectLst/>
                <a:uFillTx/>
                <a:latin typeface="Helvetica Neue"/>
                <a:ea typeface="Helvetica Neue"/>
              </a:rPr>
              <a:t>🎒 Portable (Single .exe file).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2801"/>
              </a:lnSpc>
              <a:spcBef>
                <a:spcPts val="1199"/>
              </a:spcBef>
              <a:buClr>
                <a:srgbClr val="2c3e50"/>
              </a:buClr>
              <a:buFont typeface="Wingdings" charset="2"/>
              <a:buChar char=""/>
            </a:pPr>
            <a:r>
              <a:rPr b="0" lang="en-US" sz="1600" strike="noStrike" u="none">
                <a:solidFill>
                  <a:srgbClr val="2c3e50"/>
                </a:solidFill>
                <a:effectLst/>
                <a:uFillTx/>
                <a:latin typeface="Helvetica Neue"/>
                <a:ea typeface="Helvetica Neue"/>
              </a:rPr>
              <a:t>Disadvantages: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01"/>
              </a:lnSpc>
              <a:spcBef>
                <a:spcPts val="1199"/>
              </a:spcBef>
            </a:pPr>
            <a:r>
              <a:rPr b="0" lang="en-US" sz="1600" strike="noStrike" u="none">
                <a:solidFill>
                  <a:srgbClr val="2c3e50"/>
                </a:solidFill>
                <a:effectLst/>
                <a:uFillTx/>
                <a:latin typeface="Helvetica Neue"/>
                <a:ea typeface="Helvetica Neue"/>
              </a:rPr>
              <a:t>⌨️ Keyboard Only (No mouse support).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01"/>
              </a:lnSpc>
              <a:spcBef>
                <a:spcPts val="1199"/>
              </a:spcBef>
            </a:pPr>
            <a:r>
              <a:rPr b="0" lang="en-US" sz="1600" strike="noStrike" u="none">
                <a:solidFill>
                  <a:srgbClr val="2c3e50"/>
                </a:solidFill>
                <a:effectLst/>
                <a:uFillTx/>
                <a:latin typeface="Helvetica Neue"/>
                <a:ea typeface="Helvetica Neue"/>
              </a:rPr>
              <a:t>🌐 No Online Sync (Local only).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01"/>
              </a:lnSpc>
              <a:spcBef>
                <a:spcPts val="1199"/>
              </a:spcBef>
            </a:pPr>
            <a:r>
              <a:rPr b="0" lang="en-US" sz="1600" strike="noStrike" u="none">
                <a:solidFill>
                  <a:srgbClr val="2c3e50"/>
                </a:solidFill>
                <a:effectLst/>
                <a:uFillTx/>
                <a:latin typeface="Helvetica Neue"/>
                <a:ea typeface="Helvetica Neue"/>
              </a:rPr>
              <a:t>📉 Scaling limits with file-system DB.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1"/>
          <p:cNvSpPr>
            <a:spLocks noGrp="1"/>
          </p:cNvSpPr>
          <p:nvPr>
            <p:ph type="sldNum" idx="12"/>
          </p:nvPr>
        </p:nvSpPr>
        <p:spPr>
          <a:xfrm>
            <a:off x="8229600" y="6675120"/>
            <a:ext cx="798480" cy="29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trike="noStrike" u="none">
                <a:solidFill>
                  <a:srgbClr val="2c3e5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AD81DE99-584D-44F1-B149-DD59873D29E7}" type="slidenum">
              <a:rPr b="0" lang="en-US" sz="1000" strike="noStrike" u="none">
                <a:solidFill>
                  <a:srgbClr val="2c3e5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 0"/>
          <p:cNvSpPr/>
          <p:nvPr/>
        </p:nvSpPr>
        <p:spPr>
          <a:xfrm>
            <a:off x="733680" y="303480"/>
            <a:ext cx="777096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🔮  </a:t>
            </a:r>
            <a:r>
              <a:rPr b="1" lang="en-US" sz="2800" strike="noStrike" u="none">
                <a:solidFill>
                  <a:srgbClr val="2c3e50"/>
                </a:solidFill>
                <a:effectLst/>
                <a:uFillTx/>
                <a:latin typeface="Calibri"/>
              </a:rPr>
              <a:t>Future Enhancements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1"/>
          <p:cNvSpPr/>
          <p:nvPr/>
        </p:nvSpPr>
        <p:spPr>
          <a:xfrm>
            <a:off x="867960" y="1034640"/>
            <a:ext cx="7770960" cy="50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ts val="2801"/>
              </a:lnSpc>
              <a:spcBef>
                <a:spcPts val="1199"/>
              </a:spcBef>
              <a:buClr>
                <a:srgbClr val="2c3e50"/>
              </a:buClr>
              <a:buFont typeface="Wingdings" charset="2"/>
              <a:buChar char=""/>
            </a:pPr>
            <a:r>
              <a:rPr b="0" lang="en-US" sz="1600" strike="noStrike" u="none">
                <a:solidFill>
                  <a:srgbClr val="2c3e50"/>
                </a:solidFill>
                <a:effectLst/>
                <a:uFillTx/>
                <a:latin typeface="Helvetica Neue"/>
                <a:ea typeface="Helvetica Neue"/>
              </a:rPr>
              <a:t>Graphical User Interface (GUI):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01"/>
              </a:lnSpc>
              <a:spcBef>
                <a:spcPts val="1199"/>
              </a:spcBef>
            </a:pPr>
            <a:r>
              <a:rPr b="0" lang="en-US" sz="1600" strike="noStrike" u="none">
                <a:solidFill>
                  <a:srgbClr val="2c3e50"/>
                </a:solidFill>
                <a:effectLst/>
                <a:uFillTx/>
                <a:latin typeface="Helvetica Neue"/>
                <a:ea typeface="Helvetica Neue"/>
              </a:rPr>
              <a:t>Migrate to Qt framework for mouse support.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2801"/>
              </a:lnSpc>
              <a:spcBef>
                <a:spcPts val="1199"/>
              </a:spcBef>
              <a:buClr>
                <a:srgbClr val="2c3e50"/>
              </a:buClr>
              <a:buFont typeface="Wingdings" charset="2"/>
              <a:buChar char=""/>
            </a:pPr>
            <a:r>
              <a:rPr b="0" lang="en-US" sz="1600" strike="noStrike" u="none">
                <a:solidFill>
                  <a:srgbClr val="2c3e50"/>
                </a:solidFill>
                <a:effectLst/>
                <a:uFillTx/>
                <a:latin typeface="Helvetica Neue"/>
                <a:ea typeface="Helvetica Neue"/>
              </a:rPr>
              <a:t>Database Upgrade: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01"/>
              </a:lnSpc>
              <a:spcBef>
                <a:spcPts val="1199"/>
              </a:spcBef>
            </a:pPr>
            <a:r>
              <a:rPr b="0" lang="en-US" sz="1600" strike="noStrike" u="none">
                <a:solidFill>
                  <a:srgbClr val="2c3e50"/>
                </a:solidFill>
                <a:effectLst/>
                <a:uFillTx/>
                <a:latin typeface="Helvetica Neue"/>
                <a:ea typeface="Helvetica Neue"/>
              </a:rPr>
              <a:t>Move from .dat to SQLite/MySQL.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2801"/>
              </a:lnSpc>
              <a:spcBef>
                <a:spcPts val="1199"/>
              </a:spcBef>
              <a:buClr>
                <a:srgbClr val="2c3e50"/>
              </a:buClr>
              <a:buFont typeface="Wingdings" charset="2"/>
              <a:buChar char=""/>
            </a:pPr>
            <a:r>
              <a:rPr b="0" lang="en-US" sz="1600" strike="noStrike" u="none">
                <a:solidFill>
                  <a:srgbClr val="2c3e50"/>
                </a:solidFill>
                <a:effectLst/>
                <a:uFillTx/>
                <a:latin typeface="Helvetica Neue"/>
                <a:ea typeface="Helvetica Neue"/>
              </a:rPr>
              <a:t>Billing Module: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01"/>
              </a:lnSpc>
              <a:spcBef>
                <a:spcPts val="1199"/>
              </a:spcBef>
            </a:pPr>
            <a:r>
              <a:rPr b="0" lang="en-US" sz="1600" strike="noStrike" u="none">
                <a:solidFill>
                  <a:srgbClr val="2c3e50"/>
                </a:solidFill>
                <a:effectLst/>
                <a:uFillTx/>
                <a:latin typeface="Helvetica Neue"/>
                <a:ea typeface="Helvetica Neue"/>
              </a:rPr>
              <a:t>Generate PDF Invoices automatically.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2801"/>
              </a:lnSpc>
              <a:spcBef>
                <a:spcPts val="1199"/>
              </a:spcBef>
              <a:buClr>
                <a:srgbClr val="2c3e50"/>
              </a:buClr>
              <a:buFont typeface="Wingdings" charset="2"/>
              <a:buChar char=""/>
            </a:pPr>
            <a:r>
              <a:rPr b="0" lang="en-US" sz="1600" strike="noStrike" u="none">
                <a:solidFill>
                  <a:srgbClr val="2c3e50"/>
                </a:solidFill>
                <a:effectLst/>
                <a:uFillTx/>
                <a:latin typeface="Helvetica Neue"/>
                <a:ea typeface="Helvetica Neue"/>
              </a:rPr>
              <a:t>Networking: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01"/>
              </a:lnSpc>
              <a:spcBef>
                <a:spcPts val="1199"/>
              </a:spcBef>
            </a:pPr>
            <a:r>
              <a:rPr b="0" lang="en-US" sz="1600" strike="noStrike" u="none">
                <a:solidFill>
                  <a:srgbClr val="2c3e50"/>
                </a:solidFill>
                <a:effectLst/>
                <a:uFillTx/>
                <a:latin typeface="Helvetica Neue"/>
                <a:ea typeface="Helvetica Neue"/>
              </a:rPr>
              <a:t>Allow multiple computers to access the same DB.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1"/>
          <p:cNvSpPr>
            <a:spLocks noGrp="1"/>
          </p:cNvSpPr>
          <p:nvPr>
            <p:ph type="sldNum" idx="13"/>
          </p:nvPr>
        </p:nvSpPr>
        <p:spPr>
          <a:xfrm>
            <a:off x="8229600" y="6675120"/>
            <a:ext cx="798480" cy="29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trike="noStrike" u="none">
                <a:solidFill>
                  <a:srgbClr val="2c3e5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B8FDD5D0-8C0E-4831-922C-3F3B1304BB1E}" type="slidenum">
              <a:rPr b="0" lang="en-US" sz="1000" strike="noStrike" u="none">
                <a:solidFill>
                  <a:srgbClr val="2c3e5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 0"/>
          <p:cNvSpPr/>
          <p:nvPr/>
        </p:nvSpPr>
        <p:spPr>
          <a:xfrm>
            <a:off x="914400" y="365760"/>
            <a:ext cx="777096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📝  </a:t>
            </a:r>
            <a:r>
              <a:rPr b="1" lang="en-US" sz="2800" strike="noStrike" u="none">
                <a:solidFill>
                  <a:srgbClr val="2c3e50"/>
                </a:solidFill>
                <a:effectLst/>
                <a:uFillTx/>
                <a:latin typeface="Calibri"/>
              </a:rPr>
              <a:t>Conclusion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1"/>
          <p:cNvSpPr/>
          <p:nvPr/>
        </p:nvSpPr>
        <p:spPr>
          <a:xfrm>
            <a:off x="914400" y="1091520"/>
            <a:ext cx="7770960" cy="50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  <a:ea typeface="Helvetica Neue"/>
              </a:rPr>
              <a:t>The Vehicle Service Management System provides an efficient solution for managing vehicle service records.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  <a:ea typeface="Helvetica Neue"/>
              </a:rPr>
              <a:t>It replaces the traditional manual system with a computerized and structured approach.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  <a:ea typeface="Helvetica Neue"/>
              </a:rPr>
              <a:t>The use of C programming language, structures, and file handling ensures reliable data storage.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  <a:ea typeface="Helvetica Neue"/>
              </a:rPr>
              <a:t>The system reduces errors, saves time, and improves overall productivity.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  <a:ea typeface="Helvetica Neue"/>
              </a:rPr>
              <a:t>This project helps in understanding real-world application of C concepts.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  <a:ea typeface="Helvetica Neue"/>
              </a:rPr>
              <a:t>Overall, the project is successful and fulfills all the defined objectives.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1"/>
          <p:cNvSpPr>
            <a:spLocks noGrp="1"/>
          </p:cNvSpPr>
          <p:nvPr>
            <p:ph type="sldNum" idx="14"/>
          </p:nvPr>
        </p:nvSpPr>
        <p:spPr>
          <a:xfrm>
            <a:off x="8229600" y="6675120"/>
            <a:ext cx="798480" cy="29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trike="noStrike" u="none">
                <a:solidFill>
                  <a:srgbClr val="2c3e5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358058E8-DDCC-41F8-9E0E-D911860DDE9D}" type="slidenum">
              <a:rPr b="0" lang="en-US" sz="1000" strike="noStrike" u="none">
                <a:solidFill>
                  <a:srgbClr val="2c3e5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ext 0"/>
          <p:cNvSpPr/>
          <p:nvPr/>
        </p:nvSpPr>
        <p:spPr>
          <a:xfrm>
            <a:off x="0" y="2286000"/>
            <a:ext cx="91425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000" strike="noStrike" u="none">
                <a:solidFill>
                  <a:srgbClr val="ecf0f1"/>
                </a:solidFill>
                <a:effectLst/>
                <a:uFillTx/>
                <a:latin typeface="Calibri"/>
              </a:rPr>
              <a:t>THANK YOU</a:t>
            </a:r>
            <a:endParaRPr b="0" lang="en-IN" sz="6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"/>
          <p:cNvSpPr/>
          <p:nvPr/>
        </p:nvSpPr>
        <p:spPr>
          <a:xfrm>
            <a:off x="0" y="3657600"/>
            <a:ext cx="91425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200" strike="noStrike" u="none">
                <a:solidFill>
                  <a:srgbClr val="e74c3c"/>
                </a:solidFill>
                <a:effectLst/>
                <a:uFillTx/>
                <a:latin typeface="Calibri"/>
              </a:rPr>
              <a:t>Any Questions?</a:t>
            </a: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2"/>
          <p:cNvSpPr/>
          <p:nvPr/>
        </p:nvSpPr>
        <p:spPr>
          <a:xfrm>
            <a:off x="0" y="5943600"/>
            <a:ext cx="91425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3498db"/>
                </a:solidFill>
                <a:effectLst/>
                <a:uFillTx/>
                <a:latin typeface="Calibri"/>
              </a:rPr>
              <a:t>Source Code on GitHub</a:t>
            </a: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</TotalTime>
  <Application>LibreOffice/25.8.3.2$Windows_X86_64 LibreOffice_project/8ca8d55c161d602844f5428fa4b58097424e324e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2026-01-29T08:13:18Z</dcterms:created>
  <dc:creator>PptxGenJS</dc:creator>
  <dc:description/>
  <dc:language>en-IN</dc:language>
  <cp:lastModifiedBy/>
  <dcterms:modified xsi:type="dcterms:W3CDTF">2026-01-29T15:57:49Z</dcterms:modified>
  <cp:revision>5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12</vt:i4>
  </property>
  <property fmtid="{D5CDD505-2E9C-101B-9397-08002B2CF9AE}" pid="3" name="PresentationFormat">
    <vt:lpwstr>On-screen Show (16:9)</vt:lpwstr>
  </property>
  <property fmtid="{D5CDD505-2E9C-101B-9397-08002B2CF9AE}" pid="4" name="Slides">
    <vt:i4>12</vt:i4>
  </property>
</Properties>
</file>